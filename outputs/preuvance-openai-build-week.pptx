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aaf20e87f442b2" /><Relationship Type="http://schemas.openxmlformats.org/officeDocument/2006/relationships/extended-properties" Target="/docProps/app.xml" Id="R557bebfda41f49f9" /><Relationship Type="http://schemas.openxmlformats.org/officeDocument/2006/relationships/officeDocument" Target="/ppt/presentation.xml" Id="Reaa7dd2816c841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0ddfb51ca3413e"/>
  </p:sldMasterIdLst>
  <p:notesMasterIdLst>
    <p:notesMasterId xmlns:r="http://schemas.openxmlformats.org/officeDocument/2006/relationships" r:id="Rc81e11ea5f964901"/>
  </p:notesMasterIdLst>
  <p:sldIdLst>
    <p:sldId xmlns:r="http://schemas.openxmlformats.org/officeDocument/2006/relationships" id="256" r:id="Rb5010adbe5e74758"/>
    <p:sldId xmlns:r="http://schemas.openxmlformats.org/officeDocument/2006/relationships" id="257" r:id="Rf5255b593e5d4ce2"/>
    <p:sldId xmlns:r="http://schemas.openxmlformats.org/officeDocument/2006/relationships" id="258" r:id="R23b41f9cdf874b10"/>
    <p:sldId xmlns:r="http://schemas.openxmlformats.org/officeDocument/2006/relationships" id="259" r:id="R94da08db3a304dd2"/>
    <p:sldId xmlns:r="http://schemas.openxmlformats.org/officeDocument/2006/relationships" id="260" r:id="R9d3d26dea811415a"/>
    <p:sldId xmlns:r="http://schemas.openxmlformats.org/officeDocument/2006/relationships" id="261" r:id="R239ebf6ba5c94af8"/>
    <p:sldId xmlns:r="http://schemas.openxmlformats.org/officeDocument/2006/relationships" id="262" r:id="Rf00b2b8603434ce4"/>
    <p:sldId xmlns:r="http://schemas.openxmlformats.org/officeDocument/2006/relationships" id="263" r:id="R787f65b101f847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3a697d126b429c" /><Relationship Type="http://schemas.openxmlformats.org/officeDocument/2006/relationships/slideMaster" Target="/ppt/slideMasters/slideMaster1.xml" Id="Rba0ddfb51ca3413e" /><Relationship Type="http://schemas.openxmlformats.org/officeDocument/2006/relationships/notesMaster" Target="/ppt/notesMasters/notesMaster1.xml" Id="Rc81e11ea5f964901" /><Relationship Type="http://schemas.openxmlformats.org/officeDocument/2006/relationships/presProps" Target="/ppt/presProps.xml" Id="R8389d898611743e3" /><Relationship Type="http://schemas.openxmlformats.org/officeDocument/2006/relationships/tableStyles" Target="/ppt/tableStyles.xml" Id="R1badbaadf6b44a48" /><Relationship Type="http://schemas.openxmlformats.org/officeDocument/2006/relationships/slide" Target="/ppt/slides/slide1.xml" Id="Rb5010adbe5e74758" /><Relationship Type="http://schemas.openxmlformats.org/officeDocument/2006/relationships/slide" Target="/ppt/slides/slide2.xml" Id="Rf5255b593e5d4ce2" /><Relationship Type="http://schemas.openxmlformats.org/officeDocument/2006/relationships/slide" Target="/ppt/slides/slide3.xml" Id="R23b41f9cdf874b10" /><Relationship Type="http://schemas.openxmlformats.org/officeDocument/2006/relationships/slide" Target="/ppt/slides/slide4.xml" Id="R94da08db3a304dd2" /><Relationship Type="http://schemas.openxmlformats.org/officeDocument/2006/relationships/slide" Target="/ppt/slides/slide5.xml" Id="R9d3d26dea811415a" /><Relationship Type="http://schemas.openxmlformats.org/officeDocument/2006/relationships/slide" Target="/ppt/slides/slide6.xml" Id="R239ebf6ba5c94af8" /><Relationship Type="http://schemas.openxmlformats.org/officeDocument/2006/relationships/slide" Target="/ppt/slides/slide7.xml" Id="Rf00b2b8603434ce4" /><Relationship Type="http://schemas.openxmlformats.org/officeDocument/2006/relationships/slide" Target="/ppt/slides/slide8.xml" Id="R787f65b101f847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389b648b324e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ba0100a3a84656" /><Relationship Type="http://schemas.openxmlformats.org/officeDocument/2006/relationships/notesMaster" Target="/ppt/notesMasters/notesMaster1.xml" Id="Raa11b663ce024c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38772e12424f90" /><Relationship Type="http://schemas.openxmlformats.org/officeDocument/2006/relationships/notesMaster" Target="/ppt/notesMasters/notesMaster1.xml" Id="Rb79a18ddbbfc45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b33d0d2c5a4651" /><Relationship Type="http://schemas.openxmlformats.org/officeDocument/2006/relationships/notesMaster" Target="/ppt/notesMasters/notesMaster1.xml" Id="R60239b58dac84b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910235f1704ec1" /><Relationship Type="http://schemas.openxmlformats.org/officeDocument/2006/relationships/notesMaster" Target="/ppt/notesMasters/notesMaster1.xml" Id="Rbdb16e98624a4c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8bbf978f16482d" /><Relationship Type="http://schemas.openxmlformats.org/officeDocument/2006/relationships/notesMaster" Target="/ppt/notesMasters/notesMaster1.xml" Id="Rdcc05288bbad47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ddeae89b3e4a8f" /><Relationship Type="http://schemas.openxmlformats.org/officeDocument/2006/relationships/notesMaster" Target="/ppt/notesMasters/notesMaster1.xml" Id="R1ec88ff7b2e14c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e98eb4d5f24e78" /><Relationship Type="http://schemas.openxmlformats.org/officeDocument/2006/relationships/notesMaster" Target="/ppt/notesMasters/notesMaster1.xml" Id="R21537e1da4ab48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82cf820cc04716" /><Relationship Type="http://schemas.openxmlformats.org/officeDocument/2006/relationships/notesMaster" Target="/ppt/notesMasters/notesMaster1.xml" Id="R4c76ea6508214a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Preuvance turns AI assurance from a questionnaire into an operating workflow.</a:t>
            </a:r>
          </a:p>
          <a:p xmlns:a="http://schemas.openxmlformats.org/drawingml/2006/main">
            <a:r>
              <a:t>The promise is simple: describe the system, strengthen it with local signals, then advance every claim with evidence.</a:t>
            </a:r>
          </a:p>
          <a:p xmlns:a="http://schemas.openxmlformats.org/drawingml/2006/main">
            <a:r>
              <a:t>The dossier is useful immediately and remains traceable as the system evolves.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problem is not a lack of questionnaires. It is the distance between declarations and operational reality.</a:t>
            </a:r>
          </a:p>
          <a:p xmlns:a="http://schemas.openxmlformats.org/drawingml/2006/main">
            <a:r>
              <a:t>Evidence sits in many places and changes at different speeds.</a:t>
            </a:r>
          </a:p>
          <a:p xmlns:a="http://schemas.openxmlformats.org/drawingml/2006/main">
            <a:r>
              <a:t>Preuvance closes that gap by making evidence part of the dossier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experience starts with a natural-language prompt.</a:t>
            </a:r>
          </a:p>
          <a:p xmlns:a="http://schemas.openxmlformats.org/drawingml/2006/main">
            <a:r>
              <a:t>Teams can strengthen the dossier with dependency manifests and an optional local runtime scan.</a:t>
            </a:r>
          </a:p>
          <a:p xmlns:a="http://schemas.openxmlformats.org/drawingml/2006/main">
            <a:r>
              <a:t>Raw files stay local; Preuvance sends only bounded digests and makes the handoff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output is not an empty workspace. It is an instant dossier with identity, mappings, gaps, decisions, and evidence.</a:t>
            </a:r>
          </a:p>
          <a:p xmlns:a="http://schemas.openxmlformats.org/drawingml/2006/main">
            <a:r>
              <a:t>The same dossier can be reopened and strengthened after the initial assessment.</a:t>
            </a:r>
          </a:p>
          <a:p xmlns:a="http://schemas.openxmlformats.org/drawingml/2006/main">
            <a:r>
              <a:t>PDF export remains useful for governance meetings, while the evidence ledger stays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Preuvance separates documentary coverage from regulatory readiness.</a:t>
            </a:r>
          </a:p>
          <a:p xmlns:a="http://schemas.openxmlformats.org/drawingml/2006/main">
            <a:r>
              <a:t>Declared and detected items remain useful, but they do not count as proven.</a:t>
            </a:r>
          </a:p>
          <a:p xmlns:a="http://schemas.openxmlformats.org/drawingml/2006/main">
            <a:r>
              <a:t>The strongest state requires human review and a date. A file hash protects integrity; it does not establish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GPT-5.6 performs the high-value reasoning stages: extraction, classification, and gap analysis.</a:t>
            </a:r>
          </a:p>
          <a:p xmlns:a="http://schemas.openxmlformats.org/drawingml/2006/main">
            <a:r>
              <a:t>Deterministic synthesis enforces schemas, stable identifiers, and evidence invariants.</a:t>
            </a:r>
          </a:p>
          <a:p xmlns:a="http://schemas.openxmlformats.org/drawingml/2006/main">
            <a:r>
              <a:t>Codex is used materially to build, test, and document the implementation—not merely as a wrapper.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dependency loader parses manifests in the browser and sends only recognized dependency metadata.</a:t>
            </a:r>
          </a:p>
          <a:p xmlns:a="http://schemas.openxmlformats.org/drawingml/2006/main">
            <a:r>
              <a:t>The optional runtime scan requires explicit consent before a bounded digest is handed to the assessment.</a:t>
            </a:r>
          </a:p>
          <a:p xmlns:a="http://schemas.openxmlformats.org/drawingml/2006/main">
            <a:r>
              <a:t>Evidence attachments remain local: Preuvance records metadata and SHA-256, while Supabase RLS isolates the living ledger by tenant.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Preuvance gives teams a practical loop: prompt, scan, and prove.</a:t>
            </a:r>
          </a:p>
          <a:p xmlns:a="http://schemas.openxmlformats.org/drawingml/2006/main">
            <a:r>
              <a:t>Its key design choice is to preserve epistemic honesty—declared, detected, and proven remain distinct.</a:t>
            </a:r>
          </a:p>
          <a:p xmlns:a="http://schemas.openxmlformats.org/drawingml/2006/main">
            <a:r>
              <a:t>We are applying to the Work &amp; Productivity track because Preuvance turns assurance into a repeatable part of how AI systems are built and reviewed.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dc997032d44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051ebc210c46e1" /><Relationship Type="http://schemas.openxmlformats.org/officeDocument/2006/relationships/slideLayout" Target="/ppt/slideLayouts/slideLayout1.xml" Id="R766f431159a646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6f431159a646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eb06bebe04436" /><Relationship Type="http://schemas.openxmlformats.org/officeDocument/2006/relationships/notesSlide" Target="/ppt/notesSlides/notesSlide1.xml" Id="R4a7e5a8945af43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d3487bed44db5" /><Relationship Type="http://schemas.openxmlformats.org/officeDocument/2006/relationships/notesSlide" Target="/ppt/notesSlides/notesSlide2.xml" Id="R31d2c571605444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21fe58f8f4a3c" /><Relationship Type="http://schemas.openxmlformats.org/officeDocument/2006/relationships/notesSlide" Target="/ppt/notesSlides/notesSlide3.xml" Id="Ra6659f88bd074f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f2907f9fc456d" /><Relationship Type="http://schemas.openxmlformats.org/officeDocument/2006/relationships/notesSlide" Target="/ppt/notesSlides/notesSlide4.xml" Id="Ree3e3172496042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d44b150ef408d" /><Relationship Type="http://schemas.openxmlformats.org/officeDocument/2006/relationships/notesSlide" Target="/ppt/notesSlides/notesSlide5.xml" Id="R893ea547cc7545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5db59156d48cf" /><Relationship Type="http://schemas.openxmlformats.org/officeDocument/2006/relationships/notesSlide" Target="/ppt/notesSlides/notesSlide6.xml" Id="R3bd8557138ff45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562f9370f41b7" /><Relationship Type="http://schemas.openxmlformats.org/officeDocument/2006/relationships/notesSlide" Target="/ppt/notesSlides/notesSlide7.xml" Id="Re88be047104749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73f32d94b4e56" /><Relationship Type="http://schemas.openxmlformats.org/officeDocument/2006/relationships/notesSlide" Target="/ppt/notesSlides/notesSlide8.xml" Id="Re5c2e2db017841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F9F89E-9249-44D9-9968-0F0473F7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DD130-328F-4EB6-8F99-A1C536F0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7133E-293E-4C8B-86F6-DE79410B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56DD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6DDE2"/>
                </a:solidFill>
                <a:latin typeface="Aptos"/>
                <a:ea typeface="Aptos"/>
                <a:cs typeface="Aptos"/>
              </a:rPr>
              <a:t>OPENAI BUILD WEEK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6464D-FBCA-4CBA-A232-314629C8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PREUVANCE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6BAEE-77C6-4D21-9CE3-319E3F12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162050"/>
            <a:ext cx="295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1C152-00E3-47E8-B3A1-262CE88C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266825"/>
            <a:ext cx="295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040C7-937E-4E73-AE2F-E0E48B07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63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F7FAFC"/>
                </a:solidFill>
              </a:rPr>
              <a:t>Prompt.</a:t>
            </a:r>
          </a:p>
          <a:p xmlns:a="http://schemas.openxmlformats.org/drawingml/2006/main">
            <a:pPr algn="l">
              <a:defRPr sz="61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56DDE2"/>
                </a:solidFill>
              </a:rPr>
              <a:t>Scan.</a:t>
            </a:r>
          </a:p>
          <a:p xmlns:a="http://schemas.openxmlformats.org/drawingml/2006/main">
            <a:pPr algn="l">
              <a:defRPr sz="61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52E391"/>
                </a:solidFill>
              </a:rPr>
              <a:t>Prove.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66F10-3DD3-4420-917C-4D80CB79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Turn an AI system into a living, source-linked assurance dossier—evidence by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14C38-40DF-4BF8-8DA1-B4790129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Built with GPT-5.6 + Codex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B8042-2F74-4F3B-BB76-9DFA2909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7096125" y="1209675"/>
            <a:ext cx="3714750" cy="4286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32A41"/>
          </a:solidFill>
          <a:ln xmlns:a="http://schemas.openxmlformats.org/drawingml/2006/main" w="19050">
            <a:solidFill>
              <a:srgbClr val="356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014E3-97FE-4C41-9F14-6DE25DFC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6819900" y="1333500"/>
            <a:ext cx="3714750" cy="4286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E2033"/>
          </a:solidFill>
          <a:ln xmlns:a="http://schemas.openxmlformats.org/drawingml/2006/main" w="19050">
            <a:solidFill>
              <a:srgbClr val="56DD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D395C-A7C1-4197-8D01-7EFCDA1A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76325"/>
            <a:ext cx="4000500" cy="45148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08F0C-1EC6-4E1D-9C57-038180D0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76325"/>
            <a:ext cx="4000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FAD36-03F3-4F60-8824-0EAAD222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AI ASSURANCE DOSSIER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C1931-E89A-469D-BA44-15DF9C7A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145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641FC-CE58-41E4-913A-A3E4268E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86025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5465B-1906-4A3E-8AE7-574203B8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47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DECLARED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8ED65-80A5-41AE-AF6C-B820D5A5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the team states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427B3-4E3F-4001-8E2B-4983CC8E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86125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F4371-21F7-4B68-A430-ED9B734F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480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DETECTED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0C7EF-F4B2-4FCC-9045-920269AB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local signals reveal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07404-45EE-4B6A-8979-CA7D7060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86225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674AB-CA4B-48FD-A341-84FB6139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48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PROVEN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05724-6E25-46AF-9BC5-F8EA9B58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43400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a reviewer validates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F9A51-BBF6-462A-B561-E3BBD3C7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4DE1C3-CBEF-4E63-8991-6D74138B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054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SOURCE-LINKED · HUMAN-REVIEWED</a:t>
            </a:r>
          </a:p>
        </p:txBody>
      </p:sp>
    </p:spTree>
    <p:extLst>
      <p:ext uri="{BB962C8B-B14F-4D97-AF65-F5344CB8AC3E}">
        <p14:creationId xmlns:p14="http://schemas.microsoft.com/office/powerpoint/2010/main" val="2123177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F7A46-2E28-43F8-97BA-66EAE55B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PREUVANCE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8A53E-F251-4973-9A98-B5208F22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8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00799-A099-42EB-AF6F-D83EAA75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53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5E18A-56DD-4D8A-82A8-F7F5B728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70819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819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AC875-7FE1-48FD-952A-CA8A13B9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405F2-5303-41F5-A377-84FCEB26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AI governance still begins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with a blank questionnaire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971D2-8300-40E1-8F5D-B8BFE26F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19325"/>
            <a:ext cx="609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Teams declare how a system works. Reviewers chase the proof. Meanwhile, the code and infrastructure keep changing.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954AC-4D99-406F-8EA3-9596D767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86175"/>
            <a:ext cx="1143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FC445-AB2F-4C1F-884F-6F8BBA36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686175"/>
            <a:ext cx="1143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32D54-F683-4AA3-8AB7-055A1E65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033"/>
          </a:solidFill>
          <a:ln xmlns:a="http://schemas.openxmlformats.org/drawingml/2006/main" w="38100">
            <a:solidFill>
              <a:srgbClr val="356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676F7-4520-4F97-9312-1C1BC1AC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56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568FF"/>
                </a:solidFill>
                <a:latin typeface="Aptos"/>
                <a:ea typeface="Aptos"/>
                <a:cs typeface="Aptos"/>
              </a:rPr>
              <a:t>DECLARE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9F8B3-1C74-4CBF-9B35-F6DE4E17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580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Answers without attached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80860-7BF4-410B-8000-8F1B3AD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242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033"/>
          </a:solidFill>
          <a:ln xmlns:a="http://schemas.openxmlformats.org/drawingml/2006/main" w="38100">
            <a:solidFill>
              <a:srgbClr val="FFC8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6E514-B869-4832-82E2-19FD7D5A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19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45297-05C0-4C3F-9DF0-D8C53716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Manual evidence chase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67194-7303-47A1-A5D6-6C21703E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2422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033"/>
          </a:solidFill>
          <a:ln xmlns:a="http://schemas.openxmlformats.org/drawingml/2006/main" w="38100">
            <a:solidFill>
              <a:srgbClr val="FF74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62C82-F3E0-4449-9E2D-E66AB07D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19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74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7474"/>
                </a:solidFill>
                <a:latin typeface="Aptos"/>
                <a:ea typeface="Aptos"/>
                <a:cs typeface="Aptos"/>
              </a:rPr>
              <a:t>DRIFT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43A6F-4C15-4858-97FD-9407F7AC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580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Reality changes after sign-off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CF32D-C9EC-4ECB-9168-55C20ACC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400300" cy="2933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32A41"/>
          </a:solidFill>
          <a:ln xmlns:a="http://schemas.openxmlformats.org/drawingml/2006/main" w="19050">
            <a:solidFill>
              <a:srgbClr val="FF74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D1AE2-013A-4D64-88D7-8B17C48C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62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747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7474"/>
                </a:solidFill>
                <a:latin typeface="Aptos"/>
                <a:ea typeface="Aptos"/>
                <a:cs typeface="Aptos"/>
              </a:rPr>
              <a:t>THE GAP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DCF73-EBE0-4904-B282-C0C44549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7621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9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The questionnaire is static.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The system is not.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78F00-53FC-4127-8589-5D007724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05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Proof stays scattered.</a:t>
            </a:r>
          </a:p>
        </p:txBody>
      </p:sp>
    </p:spTree>
    <p:extLst>
      <p:ext uri="{BB962C8B-B14F-4D97-AF65-F5344CB8AC3E}">
        <p14:creationId xmlns:p14="http://schemas.microsoft.com/office/powerpoint/2010/main" val="1370995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08329B-AAF3-48D6-971B-0475EB85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PREUVANCE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105EA-FCB1-4727-8DE4-6570D215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8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1741A-7E6B-4D04-845D-B2EFDD50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53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B6439-C7F9-4379-B092-1F3BE142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70819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819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208E2-91AF-4BAE-8392-18B414BD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7E412-B03E-4BC2-892A-588A3876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One prompt starts the dossier. Local signals strengthen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8D471-D699-4D30-B27C-13F3E13A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990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AF55B-3E92-494E-AB6D-718BB5B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52800"/>
            <a:ext cx="990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6D879-27B3-4372-ADD5-4F072F81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2705100" cy="1809750"/>
          </a:xfrm>
          <a:prstGeom xmlns:a="http://schemas.openxmlformats.org/drawingml/2006/main" prst="roundRect">
            <a:avLst>
              <a:gd name="adj" fmla="val 13684"/>
            </a:avLst>
          </a:prstGeom>
          <a:solidFill xmlns:a="http://schemas.openxmlformats.org/drawingml/2006/main">
            <a:srgbClr val="0E2033"/>
          </a:solidFill>
          <a:ln xmlns:a="http://schemas.openxmlformats.org/drawingml/2006/main" w="19050">
            <a:solidFill>
              <a:srgbClr val="356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617CA-FAC9-4CC1-9233-66C976B1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56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568FF"/>
                </a:solidFill>
                <a:latin typeface="Aptos"/>
                <a:ea typeface="Aptos"/>
                <a:cs typeface="Aptos"/>
              </a:rPr>
              <a:t>01 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D4C2A-764D-4562-B59C-AB2AA236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232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“Describe the AI system you need to assess.”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DC82B-FBFB-4C8C-A115-B87E5AD8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2952750" cy="2571750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132A41"/>
          </a:solidFill>
          <a:ln xmlns:a="http://schemas.openxmlformats.org/drawingml/2006/main" w="19050">
            <a:solidFill>
              <a:srgbClr val="56DD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753AF-3ED5-4D7D-A104-4CF91206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56DD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6DDE2"/>
                </a:solidFill>
                <a:latin typeface="Aptos"/>
                <a:ea typeface="Aptos"/>
                <a:cs typeface="Aptos"/>
              </a:rPr>
              <a:t>02  SCAN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30DD8-0949-4D0B-A86D-570AD1D5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3847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Local manifests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3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+ runtime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11176-B512-4A2C-91BE-41F1C3C8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382CE-C7BB-4F1F-98FA-9D83A09B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package.json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C3B4D-1BE4-4F84-AD63-B4FCA225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38D8C-A9D7-4DE1-B18D-ACF6BA39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1005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requirements.txt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3A655-1F33-463F-98DC-A6C6C9B2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05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012D5-A5C8-489F-AD71-EF174D82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scan digest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FDF19-414B-449B-A52B-5E462C0E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47950"/>
            <a:ext cx="3286125" cy="1885950"/>
          </a:xfrm>
          <a:prstGeom xmlns:a="http://schemas.openxmlformats.org/drawingml/2006/main" prst="roundRect">
            <a:avLst>
              <a:gd name="adj" fmla="val 1262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9CCD0-0ABE-4AFF-BE57-BE512B3A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47950"/>
            <a:ext cx="3286125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CD3AD-7F30-40FD-AF3E-7A18EADB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384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7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7A43"/>
                </a:solidFill>
                <a:latin typeface="Aptos"/>
                <a:ea typeface="Aptos"/>
                <a:cs typeface="Aptos"/>
              </a:rPr>
              <a:t>03  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0B4694-2BB9-4247-A12F-F9E50707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476625"/>
            <a:ext cx="2514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Instant assurance dossier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F47BD6-2099-42A0-951E-969B2455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2C74E-1C05-443A-9BEF-00DB34ED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83984F-2B5C-45B0-90DC-A7A2EDF5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Only bounded, expurgated digests cross the local boundary—and only with consent.</a:t>
            </a:r>
          </a:p>
        </p:txBody>
      </p:sp>
    </p:spTree>
    <p:extLst>
      <p:ext uri="{BB962C8B-B14F-4D97-AF65-F5344CB8AC3E}">
        <p14:creationId xmlns:p14="http://schemas.microsoft.com/office/powerpoint/2010/main" val="1544522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24C888-5724-48F9-B760-B91E5EBC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PREUVANCE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4AE6B-20FB-45AE-A39A-56D520B3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8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17978-0CE8-4534-809A-687DC60D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53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25B5D-5871-40E9-9335-64526E45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70819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819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B93C1-C326-4887-89A9-E82BE025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92A7F-38D3-4E0A-BAE1-191A3D57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The dossier is useful when it appears—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and stays alive after the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F612C-9BE9-4ECE-90A0-F70977E0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6172200" cy="3429000"/>
          </a:xfrm>
          <a:prstGeom xmlns:a="http://schemas.openxmlformats.org/drawingml/2006/main" prst="roundRect">
            <a:avLst>
              <a:gd name="adj" fmla="val 722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AC8C9-7A08-4B60-9D4E-FE697619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6172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25521-1247-4E77-8035-3BF1FECB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28925"/>
            <a:ext cx="14097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ED499-4CEC-4BE1-B474-47F9448F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860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D47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47CE"/>
                </a:solidFill>
                <a:latin typeface="Aptos"/>
                <a:ea typeface="Aptos"/>
                <a:cs typeface="Aptos"/>
              </a:rPr>
              <a:t>LIVE DOSSIER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BC0B6-62AA-4EB1-A60E-9E56D371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4805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System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D81E1-1828-4BA5-BF29-0C64C5D9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42059-B7C2-45F5-82E0-FE9B602F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48125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C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72573-40E7-45DC-812A-F708E88A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4805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Risk mapping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7F6AE-5331-41B4-8AF8-C75CED6D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290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F98C4-F2E7-4668-BDD2-97F9D0A0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48125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DC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F1B5B-107A-485F-AC9C-42918A73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243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00A6B-1114-4269-AD8C-C6C95257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BAEDE-56DE-45E8-AEF8-290B2DD5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577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GAPS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CBA9C-D067-4AEF-ACD4-CBF4E2E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4352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6968C5-97BE-40D2-B80E-C3EAFEAD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ECBA8-093F-4C54-89A7-12155B63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9BB25-4C6B-4D38-8A84-679DBA2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577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DECISIONS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CFD2A-7888-4185-9F77-40330318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34352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9D85C9-6D93-4645-8686-64CA6595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4355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520ED2-FDC2-4880-BB34-97D4AA37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05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FBAAA-4857-4D14-BB7C-D0075B23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577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4F7C20-D55F-4B9F-99AA-FE8A7778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4352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DB16B9-D9A1-4287-8DDD-8FEA9B74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4355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978994-D11A-4648-917B-4BE18213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6DDE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6DDE2"/>
                </a:solidFill>
                <a:latin typeface="Aptos"/>
                <a:ea typeface="Aptos"/>
                <a:cs typeface="Aptos"/>
              </a:rPr>
              <a:t>USEFUL NOW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65A8D2-7B23-42B3-824F-A7942F13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524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3" algn="l">
              <a:buChar char="•"/>
              <a:defRPr sz="18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Prioritized gaps</a:t>
            </a:r>
          </a:p>
          <a:p xmlns:a="http://schemas.openxmlformats.org/drawingml/2006/main">
            <a:pPr marL="22" indent="-13" algn="l">
              <a:buChar char="•"/>
              <a:defRPr sz="18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Decision-ready PDF</a:t>
            </a:r>
          </a:p>
          <a:p xmlns:a="http://schemas.openxmlformats.org/drawingml/2006/main">
            <a:pPr marL="22" indent="-13" algn="l">
              <a:buChar char="•"/>
              <a:defRPr sz="18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Model provenance recorded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56494E-C2B8-4479-B38B-EC7A282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005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556DAA-EBF2-4836-B97B-C4BF1166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2E39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2E391"/>
                </a:solidFill>
                <a:latin typeface="Aptos"/>
                <a:ea typeface="Aptos"/>
                <a:cs typeface="Aptos"/>
              </a:rPr>
              <a:t>LIVING LATER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74B4F9-F6C4-4F38-82CE-9C8ED242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86350"/>
            <a:ext cx="3524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3" algn="l">
              <a:buChar char="•"/>
              <a:defRPr sz="18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Resume the dossier</a:t>
            </a:r>
          </a:p>
          <a:p xmlns:a="http://schemas.openxmlformats.org/drawingml/2006/main">
            <a:pPr marL="22" indent="-13" algn="l">
              <a:buChar char="•"/>
              <a:defRPr sz="18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Update evidence states</a:t>
            </a:r>
          </a:p>
          <a:p xmlns:a="http://schemas.openxmlformats.org/drawingml/2006/main">
            <a:pPr marL="22" indent="-13" algn="l">
              <a:buChar char="•"/>
              <a:defRPr sz="18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t>Preserve an event history</a:t>
            </a:r>
          </a:p>
        </p:txBody>
      </p:sp>
    </p:spTree>
    <p:extLst>
      <p:ext uri="{BB962C8B-B14F-4D97-AF65-F5344CB8AC3E}">
        <p14:creationId xmlns:p14="http://schemas.microsoft.com/office/powerpoint/2010/main" val="17083995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DBA64B-9862-47A7-B3EF-30DB109F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PREUVANCE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A0AC9-37C5-4541-A34F-65CF8C7C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8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08955-C304-4BD6-B814-DC383040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53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66C52-A3EE-4D1C-9F47-74173024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70819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819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3CC92-1004-4D35-BB3D-1283F937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4E3BD-7C0F-44A2-A4D3-95ABD2D3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Evidence moves only when its proof gets stronger.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A40D4-C9B2-442D-82A2-C4A7AF50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A visible ladder prevents detected signals from masquerading as verified claims.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D4F19-5870-4260-B428-13669C2E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2476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32A41"/>
          </a:solidFill>
          <a:ln xmlns:a="http://schemas.openxmlformats.org/drawingml/2006/main" w="28575">
            <a:solidFill>
              <a:srgbClr val="7081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846EA-0E85-447A-84A4-A05A1F4F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952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81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EF571-AD84-4E71-B119-8011D8BE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70819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08197"/>
                </a:solidFill>
                <a:latin typeface="Aptos"/>
                <a:ea typeface="Aptos"/>
                <a:cs typeface="Aptos"/>
              </a:rPr>
              <a:t>MISSING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20853-9905-4C3C-8A08-0114EB69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5300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Expected proof is absent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DF5FE-1729-49F5-A6A8-5ED75FEF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810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32A41"/>
          </a:solidFill>
          <a:ln xmlns:a="http://schemas.openxmlformats.org/drawingml/2006/main" w="28575">
            <a:solidFill>
              <a:srgbClr val="356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83DF2-F799-4424-8895-A19DE675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52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ADDE9-8517-4257-8AB7-317D8A3F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568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568FF"/>
                </a:solidFill>
                <a:latin typeface="Aptos"/>
                <a:ea typeface="Aptos"/>
                <a:cs typeface="Aptos"/>
              </a:rPr>
              <a:t>DECLARED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C92BC-DA25-46BE-ACA5-BB05B73D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7195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 team statement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DEB5E-2966-4E07-95B9-A21F3DF5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5143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32A41"/>
          </a:solidFill>
          <a:ln xmlns:a="http://schemas.openxmlformats.org/drawingml/2006/main" w="28575">
            <a:solidFill>
              <a:srgbClr val="56DD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4B9DC-E022-466C-8B2D-1CE9D11B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952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55EFB-B05A-429B-A88D-89CCF3EA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6DDE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6DDE2"/>
                </a:solidFill>
                <a:latin typeface="Aptos"/>
                <a:ea typeface="Aptos"/>
                <a:cs typeface="Aptos"/>
              </a:rPr>
              <a:t>DETECTED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E306F-0725-408E-BCCD-C2CCDACD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90900"/>
            <a:ext cx="319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 bounded local signal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39386-4DAA-4BB3-8E8D-FF352727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64770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32A41"/>
          </a:solidFill>
          <a:ln xmlns:a="http://schemas.openxmlformats.org/drawingml/2006/main" w="28575">
            <a:solidFill>
              <a:srgbClr val="52E3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9283E-3D1B-4404-9C2C-8B6F1AF4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952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A9007-F4BD-424C-A66D-4A921FDA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2E39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2E391"/>
                </a:solidFill>
                <a:latin typeface="Aptos"/>
                <a:ea typeface="Aptos"/>
                <a:cs typeface="Aptos"/>
              </a:rPr>
              <a:t>PROVEN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41F25-8298-4D45-9B74-6383192D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09850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Human-reviewed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0B42D-1EC7-43CB-A1F3-3F8F2498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3562350" cy="2838450"/>
          </a:xfrm>
          <a:prstGeom xmlns:a="http://schemas.openxmlformats.org/drawingml/2006/main" prst="roundRect">
            <a:avLst>
              <a:gd name="adj" fmla="val 10067"/>
            </a:avLst>
          </a:prstGeom>
          <a:solidFill xmlns:a="http://schemas.openxmlformats.org/drawingml/2006/main">
            <a:srgbClr val="0E2033"/>
          </a:solidFill>
          <a:ln xmlns:a="http://schemas.openxmlformats.org/drawingml/2006/main" w="19050">
            <a:solidFill>
              <a:srgbClr val="52E39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D12476-F15B-4B57-969B-E41F2A03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52E3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E391"/>
                </a:solidFill>
                <a:latin typeface="Aptos"/>
                <a:ea typeface="Aptos"/>
                <a:cs typeface="Aptos"/>
              </a:rPr>
              <a:t>PROVEN REQUIRES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07E09-FC6B-4CB3-8575-C509E2DE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2819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Reviewer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+ review date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+ source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2CAF7-AB89-4312-943D-C3B7104D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62500"/>
            <a:ext cx="280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F112D-070B-45E5-A119-C3AB600C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5300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2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SHA-256 proves integrity—not truth.</a:t>
            </a:r>
          </a:p>
        </p:txBody>
      </p:sp>
    </p:spTree>
    <p:extLst>
      <p:ext uri="{BB962C8B-B14F-4D97-AF65-F5344CB8AC3E}">
        <p14:creationId xmlns:p14="http://schemas.microsoft.com/office/powerpoint/2010/main" val="1620322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383928-A3DF-4B87-9280-9197F092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PREUVANCE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077BB-4D51-4D71-B86E-C1EFC74A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8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435C5-CA24-43A3-85F4-84C66BF4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53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75B10-4C52-48C4-9B4F-C744B592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70819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819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D19F1-35E1-461A-A27D-5283F849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B3003-1871-48C6-B88D-C0EB3432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GPT-5.6 reasons. Deterministic code keeps the record honest.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CC176-5781-441E-AA89-8A2F6223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09925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B9CC6-6754-4DC5-927E-6604DED7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09925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7B7DF-F6A8-4566-A647-BDB7FAFD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9925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C9769-2EB0-4A91-A7FF-F3FB7F5E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2143125" cy="1695450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0E2033"/>
          </a:solidFill>
          <a:ln xmlns:a="http://schemas.openxmlformats.org/drawingml/2006/main" w="19050">
            <a:solidFill>
              <a:srgbClr val="356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80354-1C59-4DCC-B505-FD470148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56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568FF"/>
                </a:solidFill>
                <a:latin typeface="Aptos"/>
                <a:ea typeface="Aptos"/>
                <a:cs typeface="Aptos"/>
              </a:rPr>
              <a:t>PROMPT + DIGESTS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DC5C5-CB3D-49A9-9CFD-542614C8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17240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9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System description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Bounded local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050FD-F74C-44F4-AF1C-788574E0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62225"/>
            <a:ext cx="2590800" cy="1695450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0E2033"/>
          </a:solidFill>
          <a:ln xmlns:a="http://schemas.openxmlformats.org/drawingml/2006/main" w="19050">
            <a:solidFill>
              <a:srgbClr val="56DD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6ABBD-E7AB-4A52-94FE-53643EAC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479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56DD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6DDE2"/>
                </a:solidFill>
                <a:latin typeface="Aptos"/>
                <a:ea typeface="Aptos"/>
                <a:cs typeface="Aptos"/>
              </a:rPr>
              <a:t>GPT-5.6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1C9F5-0E86-4EA1-AC8F-35D09BB4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43275"/>
            <a:ext cx="2171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Extract · classify · analyze gaps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FE55F-87CE-473B-874B-D1B93F56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562225"/>
            <a:ext cx="2495550" cy="1695450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0E2033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31D4E-E5BC-4359-94AF-8D46EB4F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479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STRICT SYNTHESIS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E3577-1161-452E-905F-ECA05E3F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43275"/>
            <a:ext cx="2076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Schemas · invariants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Stable evidence IDs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C1F1E-AA4F-48C5-A231-FC02751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62225"/>
            <a:ext cx="1466850" cy="16954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0E2033"/>
          </a:solidFill>
          <a:ln xmlns:a="http://schemas.openxmlformats.org/drawingml/2006/main" w="19050">
            <a:solidFill>
              <a:srgbClr val="52E39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4A35A-D073-45D8-A153-D7DCAC16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479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52E3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E391"/>
                </a:solidFill>
                <a:latin typeface="Aptos"/>
                <a:ea typeface="Aptos"/>
                <a:cs typeface="Aptos"/>
              </a:rPr>
              <a:t>DOSSIER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6F0A6-AD07-49E8-886F-963D614E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43275"/>
            <a:ext cx="1047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Living 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44D01-9296-46FD-B8EB-B81EAA67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11010900" cy="1209675"/>
          </a:xfrm>
          <a:prstGeom xmlns:a="http://schemas.openxmlformats.org/drawingml/2006/main" prst="roundRect">
            <a:avLst>
              <a:gd name="adj" fmla="val 18898"/>
            </a:avLst>
          </a:prstGeom>
          <a:solidFill xmlns:a="http://schemas.openxmlformats.org/drawingml/2006/main">
            <a:srgbClr val="132A41"/>
          </a:solidFill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DE4F0-02A8-4138-A374-07EAE51A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577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56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568FF"/>
                </a:solidFill>
                <a:latin typeface="Aptos"/>
                <a:ea typeface="Aptos"/>
                <a:cs typeface="Aptos"/>
              </a:rPr>
              <a:t>CODEX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2BC2D-CBCD-4B09-994D-1FF163FE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102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Build · test · document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71955D-08D7-4C3B-B235-5A7A4D43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530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712D6C-27A5-4BE0-98BD-8818E61C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006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E3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2E391"/>
                </a:solidFill>
                <a:latin typeface="Aptos"/>
                <a:ea typeface="Aptos"/>
                <a:cs typeface="Aptos"/>
              </a:rPr>
              <a:t>NO AUTO-VERIFICATION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4DC1A-D163-4A36-9373-EAEFBF26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149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Models never upgrade evidence.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41D9BB-8EFE-4960-84DE-BE75FF9E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006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6DDE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6DDE2"/>
                </a:solidFill>
                <a:latin typeface="Aptos"/>
                <a:ea typeface="Aptos"/>
                <a:cs typeface="Aptos"/>
              </a:rPr>
              <a:t>ACTUAL MODEL RECORDED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0B21A8-3681-4EA6-936E-B24B15FF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149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Every run stays in methodology.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D3E97C-492B-4A6B-B55F-5C390635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006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6DDE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6DDE2"/>
                </a:solidFill>
                <a:latin typeface="Aptos"/>
                <a:ea typeface="Aptos"/>
                <a:cs typeface="Aptos"/>
              </a:rPr>
              <a:t>BOUNDED INPUTS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A8F65-3634-4550-A109-992BB0FF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3149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6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Digests—not raw local content.</a:t>
            </a:r>
          </a:p>
        </p:txBody>
      </p:sp>
    </p:spTree>
    <p:extLst>
      <p:ext uri="{BB962C8B-B14F-4D97-AF65-F5344CB8AC3E}">
        <p14:creationId xmlns:p14="http://schemas.microsoft.com/office/powerpoint/2010/main" val="20310930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7D547F-6D66-4EAA-B41E-6C64782A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PREUVANCE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3A7CA-3C74-4008-AA19-734B0755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2862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D26D2-3016-4F8E-8EE3-BEBB688D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53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D239B-D7E9-41BD-AAB1-739834FA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23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70819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819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D0D2E-997F-4192-83BE-9DA86699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90E30-6A60-44A8-B085-A010B703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Privacy is an architectural constraint—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not a policy footnote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EE8D0-4D08-4D58-BB9F-555704C6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05075"/>
            <a:ext cx="4248150" cy="29337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E2033"/>
          </a:solidFill>
          <a:ln xmlns:a="http://schemas.openxmlformats.org/drawingml/2006/main" w="19050">
            <a:solidFill>
              <a:srgbClr val="56DD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C9416-41F7-4F1E-B1B2-F3575E46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19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6DDE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6DDE2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46BE9-D32A-4F65-A815-024BFD99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76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Source files stay on device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FB27E-155C-4C77-87ED-511FF477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24E5E-7D36-4DA8-A16A-6C3ECA67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Manifest 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B7656-7EC3-469A-AE3B-037840B4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D21DB-BEDE-49E6-9443-3DB57E0D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Runtime 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F5B20-3A50-4DC4-914D-16969CC1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1A9E4E-477A-4288-A1DD-BA239119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Proof file bytes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FAC25-6125-4856-98F1-C7703DF2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86000"/>
            <a:ext cx="0" cy="3562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6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DCAF4-13BC-4A07-B8C9-8B91658C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1285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356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568FF"/>
                </a:solidFill>
                <a:latin typeface="Aptos"/>
                <a:ea typeface="Aptos"/>
                <a:cs typeface="Aptos"/>
              </a:rPr>
              <a:t>EXPLICIT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356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568FF"/>
                </a:solidFill>
                <a:latin typeface="Aptos"/>
                <a:ea typeface="Aptos"/>
                <a:cs typeface="Aptos"/>
              </a:rPr>
              <a:t>CONSENT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9E88F-D820-4F3D-A830-8D948425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57625"/>
            <a:ext cx="2190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6C83D-8861-4059-AE8E-AB6E57AF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EXPURGATED DIGEST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976C8-4EAB-44BB-9956-68AE8C29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05075"/>
            <a:ext cx="4629150" cy="29337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A41"/>
          </a:solidFill>
          <a:ln xmlns:a="http://schemas.openxmlformats.org/drawingml/2006/main" w="19050">
            <a:solidFill>
              <a:srgbClr val="52E3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18541-720F-4B07-9F96-6BC1E2A0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2E39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2E391"/>
                </a:solidFill>
                <a:latin typeface="Aptos"/>
                <a:ea typeface="Aptos"/>
                <a:cs typeface="Aptos"/>
              </a:rPr>
              <a:t>PERSISTED DOSSIER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D24CA-2AD9-40E5-9E8A-937A08A4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Tenant-isolated metadata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A6FC5-A8C0-4A8C-86C5-755F8072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00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20E4A-C0D8-4918-8DCB-A12CD668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24300"/>
            <a:ext cx="3448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Supabase row-level security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44905-0880-4644-A35B-099E2BD6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429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68D3CE-727B-4053-B5BF-32D9C59F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352925"/>
            <a:ext cx="3448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Evidence event 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E83571-17FC-48A0-B530-21C29316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857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9CC8CF-9583-434A-94D9-0408B2C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781550"/>
            <a:ext cx="3448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SHA-256 metadata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0B625B-FD7F-43AD-AD24-16E67B37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The boundary is visible, inspectable, and enforced in code.</a:t>
            </a:r>
          </a:p>
        </p:txBody>
      </p:sp>
    </p:spTree>
    <p:extLst>
      <p:ext uri="{BB962C8B-B14F-4D97-AF65-F5344CB8AC3E}">
        <p14:creationId xmlns:p14="http://schemas.microsoft.com/office/powerpoint/2010/main" val="7717651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7F57B4-BA7E-4314-847E-D34424D6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E0B91-4502-4F77-A0D8-1163A97C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D399D-0FFD-4239-9FAB-7343612B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04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PREUVANCE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4BA9D-050E-4A1B-9209-93C602B2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657225"/>
            <a:ext cx="295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422DC-EFE0-4D9B-A84D-3685F1FF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762000"/>
            <a:ext cx="2952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B56FF-E444-48D6-941F-436E2DA0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57275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6DDE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6DDE2"/>
                </a:solidFill>
                <a:latin typeface="Aptos"/>
                <a:ea typeface="Aptos"/>
                <a:cs typeface="Aptos"/>
              </a:rPr>
              <a:t>OPENAI BUILD WEEK · WORK &amp; PRODUCTIVITY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9B56A-4C66-4B7C-BD3B-F3240519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6381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5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5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Build AI assurance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5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5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as a practice,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50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50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not a PDF.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00FBE-8064-49BD-93B1-8F2EE4D9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Preuvance makes governance operable at build speed—without blurring the line between a declaration, a signal, and proof.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C1937-3BEC-4C86-A07E-0F29A9E7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52E39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2E391"/>
                </a:solidFill>
                <a:latin typeface="Aptos"/>
                <a:ea typeface="Aptos"/>
                <a:cs typeface="Aptos"/>
              </a:rPr>
              <a:t>Instant AI Assurance, Evidence by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86992-B5D2-4995-9719-A7A3222A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A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97DD8-2220-42C3-ACD8-64AAACED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85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38100">
            <a:solidFill>
              <a:srgbClr val="356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534E4-4593-4918-89B5-581579A2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81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3568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568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F2DB3-6DF8-4AA8-B72D-4991921E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097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3568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3568FF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07F5C-C7F2-4D61-B02A-83DF24B6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38375"/>
            <a:ext cx="280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Start with 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F1BE8-2A4F-4F09-9375-76693B50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38100">
            <a:solidFill>
              <a:srgbClr val="56DD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0D5D0-C035-4024-829A-8C8E1C03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19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56DDE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6DDE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7089F-48BC-4FD1-8E3D-36ADE7B0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480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56DDE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56DDE2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14966-DBF3-41E2-B5A6-988ED8D4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76625"/>
            <a:ext cx="280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Strengthen with local signals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61FB1-C1B5-4942-BA38-662BE93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62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38100">
            <a:solidFill>
              <a:srgbClr val="52E39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18CCA-1536-4438-9B67-BCCE7551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52E39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2E39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B0AA2-3B0D-4326-A5B2-8264CBE4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86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52E39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52E391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170A5-7BD5-4745-B389-BD649E67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14875"/>
            <a:ext cx="2809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AAB6C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6C5"/>
                </a:solidFill>
                <a:latin typeface="Aptos"/>
                <a:ea typeface="Aptos"/>
                <a:cs typeface="Aptos"/>
              </a:rPr>
              <a:t>Advance evidence with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502E9-D43F-43C3-A678-25207DEE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657850"/>
            <a:ext cx="2943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E3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64D37-53CC-434F-8380-B5646CB3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85787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BUILT WITH GPT-5.6 + CODEX</a:t>
            </a:r>
          </a:p>
        </p:txBody>
      </p:sp>
    </p:spTree>
    <p:extLst>
      <p:ext uri="{BB962C8B-B14F-4D97-AF65-F5344CB8AC3E}">
        <p14:creationId xmlns:p14="http://schemas.microsoft.com/office/powerpoint/2010/main" val="1808423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2026-07-20T09:25:51.9280000Z</dcterms:created>
  <dcterms:modified xsi:type="dcterms:W3CDTF">2026-07-20T09:25:51.9280000Z</dcterms:modified>
</coreProperties>
</file>